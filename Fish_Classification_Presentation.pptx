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0.42</c:v>
                </c:pt>
                <c:pt idx="1">
                  <c:v>0.61</c:v>
                </c:pt>
                <c:pt idx="2">
                  <c:v>0.74</c:v>
                </c:pt>
                <c:pt idx="3">
                  <c:v>0.83</c:v>
                </c:pt>
                <c:pt idx="4">
                  <c:v>0.89</c:v>
                </c:pt>
                <c:pt idx="5">
                  <c:v>0.93</c:v>
                </c:pt>
                <c:pt idx="6">
                  <c:v>0.95</c:v>
                </c:pt>
                <c:pt idx="7">
                  <c:v>0.96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</c:v>
                </c:pt>
              </c:strCache>
            </c:strRef>
          </c:tx>
          <c:spPr>
            <a:solidFill>
              <a:srgbClr val="EC4899"/>
            </a:solidFill>
            <a:ln w="31750" cap="flat">
              <a:solidFill>
                <a:srgbClr val="EC4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0.38</c:v>
                </c:pt>
                <c:pt idx="1">
                  <c:v>0.57</c:v>
                </c:pt>
                <c:pt idx="2">
                  <c:v>0.7</c:v>
                </c:pt>
                <c:pt idx="3">
                  <c:v>0.8</c:v>
                </c:pt>
                <c:pt idx="4">
                  <c:v>0.87</c:v>
                </c:pt>
                <c:pt idx="5">
                  <c:v>0.91</c:v>
                </c:pt>
                <c:pt idx="6">
                  <c:v>0.93</c:v>
                </c:pt>
                <c:pt idx="7">
                  <c:v>0.95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Loss per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1.85</c:v>
                </c:pt>
                <c:pt idx="1">
                  <c:v>1.32</c:v>
                </c:pt>
                <c:pt idx="2">
                  <c:v>0.92</c:v>
                </c:pt>
                <c:pt idx="3">
                  <c:v>0.61</c:v>
                </c:pt>
                <c:pt idx="4">
                  <c:v>0.38</c:v>
                </c:pt>
                <c:pt idx="5">
                  <c:v>0.24</c:v>
                </c:pt>
                <c:pt idx="6">
                  <c:v>0.17</c:v>
                </c:pt>
                <c:pt idx="7">
                  <c:v>0.12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2.1</c:v>
                </c:pt>
                <c:pt idx="1">
                  <c:v>1.55</c:v>
                </c:pt>
                <c:pt idx="2">
                  <c:v>1.1</c:v>
                </c:pt>
                <c:pt idx="3">
                  <c:v>0.72</c:v>
                </c:pt>
                <c:pt idx="4">
                  <c:v>0.47</c:v>
                </c:pt>
                <c:pt idx="5">
                  <c:v>0.31</c:v>
                </c:pt>
                <c:pt idx="6">
                  <c:v>0.22</c:v>
                </c:pt>
                <c:pt idx="7">
                  <c:v>0.18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Fish Image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from Scratch  +  VGG16  +  ResNet50  +  MobileNet  +  InceptionV3  +  EfficientNetB0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PyTorch + CUDA 12.5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3.10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6118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3611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36118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65A82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3611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NVIDIA RTX 3050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Image Classification  |  Deep Learning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1887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fish images into multiple species categories using deep learning. The task involves training a CNN from scratch and leveraging transfer learning with pre-trained models to enhance performance — then deploying a Streamlit web app for real-time predictions.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06040"/>
            <a:ext cx="2651760" cy="822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best model architecture for fish image classification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606040"/>
            <a:ext cx="2651760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user-friendly web application for real-time predictions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517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06040"/>
            <a:ext cx="2651760" cy="8229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12724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compare metrics across all models to select best approach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Framework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PyTorch?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099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2.11+ dropped native Windows GPU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1488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12.5 incompatible with TF on Windows via pip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1518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877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cu121 wheels work seamlessly with CUDA 12.x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266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&amp; memory growth — safe on 4GB VRAM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4655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 provides ready-to-use pretrained models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115568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115568"/>
            <a:ext cx="20574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22529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PyTorch 2.5.1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6184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Deep Learning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1115568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115568"/>
            <a:ext cx="205740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122529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CUDA 12.1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61848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GPU Acceleration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2304288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304288"/>
            <a:ext cx="20574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241401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torchvision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Pretrained Models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2304288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2304288"/>
            <a:ext cx="2057400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41401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Streamlit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280720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Web Deployment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493008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493008"/>
            <a:ext cx="20574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60273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scikit-learn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63440" y="39959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Metrics &amp; Eval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12280" y="3493008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12280" y="3493008"/>
            <a:ext cx="205740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360273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Plotly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03720" y="399592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0" y="4572000"/>
            <a:ext cx="4206240" cy="41148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GPU: NVIDIA GeForce RTX 3050 Laptop  |  VRAM: 4 GB  |  CUDA: 12.1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Load Dataset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 from species sub-folders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Validation split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2606040"/>
            <a:ext cx="18288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43000"/>
            <a:ext cx="196596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Normalize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193852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 to [0,1]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mean &amp; std normalization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606040"/>
            <a:ext cx="18288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143000"/>
            <a:ext cx="1965960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1772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Augmentation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09160" y="193852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flip, rotation ±20°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jitter, affine scale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606040"/>
            <a:ext cx="18288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6766560" y="11430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1143000"/>
            <a:ext cx="196596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1161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1463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DataLoader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0" y="1938528"/>
            <a:ext cx="178308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16 (4GB VRAM safe)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pin_memory=True for GPU speed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transforms: Resize(224×224)  →  RandomHorizontalFlip  →  RandomRotation(20°)  →  ColorJitter  →  ToTensor  →  Normalize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8404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CNN from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256032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09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Conv2D(32) + BN + ReLU + MaxPool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57984"/>
            <a:ext cx="2560320" cy="384048"/>
          </a:xfrm>
          <a:prstGeom prst="rect">
            <a:avLst/>
          </a:prstGeom>
          <a:solidFill>
            <a:srgbClr val="14223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579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Conv2D(64) + BN + ReLU + MaxPool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06040"/>
            <a:ext cx="256032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06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Conv2D(128) + BN + ReLU + MaxPool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054096"/>
            <a:ext cx="2560320" cy="384048"/>
          </a:xfrm>
          <a:prstGeom prst="rect">
            <a:avLst/>
          </a:prstGeom>
          <a:solidFill>
            <a:srgbClr val="14223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Conv2D(256) + BN + ReLU + MaxPool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502152"/>
            <a:ext cx="256032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502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AdaptiveAvgPool → Flatten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950208"/>
            <a:ext cx="2560320" cy="384048"/>
          </a:xfrm>
          <a:prstGeom prst="rect">
            <a:avLst/>
          </a:prstGeom>
          <a:solidFill>
            <a:srgbClr val="142234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950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Dense(512) + ReLU + Dropout(0.5)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398264"/>
            <a:ext cx="256032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398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→ Softmax(N classes)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1097280"/>
            <a:ext cx="54406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37560" y="1097280"/>
            <a:ext cx="54406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10972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Transfer Learning — 5 Pre-trained Models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1709928"/>
            <a:ext cx="105156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17099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VGG16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base → classifier[-1] replaced → Linear(4096, 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2157984"/>
            <a:ext cx="105156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21579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ResNet50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2157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base → fc → Linear(2048,256) + Dropout + Linear(N)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29000" y="2606040"/>
            <a:ext cx="105156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2606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MobileNetV2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2606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base → classifier[1] → Linear(last_channel, 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3054096"/>
            <a:ext cx="1051560" cy="365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305409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InceptionV3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0" y="30540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299×299 input → fc + AuxLogits replaced → Linear(N)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29000" y="3502152"/>
            <a:ext cx="10515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3429000" y="35021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EfficientNetB0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0" y="3502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 base → classifier[1] → Linear(in_features, N)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4206240"/>
            <a:ext cx="544068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42062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transfer models: base.trainable = False  →  GAP  →  Dense(256)  →  Dropout(0.4)  →  Softmax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99032" y="1362456"/>
            <a:ext cx="15544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Build 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362456"/>
            <a:ext cx="15544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2761488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Compile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13048" y="1362456"/>
            <a:ext cx="15544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3968496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968496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 Epoch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0056" y="1362456"/>
            <a:ext cx="15544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5175504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1362456"/>
            <a:ext cx="15544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 Best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34072" y="1362456"/>
            <a:ext cx="155448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1143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143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9202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9202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Optimizer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Adam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lr = 0.001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0" y="19202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19202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364992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Loss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64992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CrossEntropy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Loss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35040" y="19202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19202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199632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Epochs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9632" y="23957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Max 20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Early Stop @5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65760" y="32918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291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3401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Batch Size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" y="37673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(4GB VRAM)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00400" y="32918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3291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401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LR Scheduler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64992" y="37673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ReduceOnPlateau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factor=0.5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035040" y="3291840"/>
            <a:ext cx="2606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3291840"/>
            <a:ext cx="73152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6199632" y="3401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Best Model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199632" y="37673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Saved 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.pth file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Callbacks: EarlyStopping (patience=5)  |  ReduceLROnPlateau (factor=0.5, patience=3)  |  ModelCheckpoint (best val_acc)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50876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48256" y="1097280"/>
            <a:ext cx="1508760" cy="10058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115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◎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48256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1097280"/>
            <a:ext cx="1508760" cy="100584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30752" y="1115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0752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1097280"/>
            <a:ext cx="1508760" cy="1005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13248" y="1115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13248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F1-Score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95744" y="1097280"/>
            <a:ext cx="1508760" cy="100584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95744" y="11155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95744" y="15727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Confusion Matrix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40280"/>
          <a:ext cx="8412480" cy="2697480"/>
        </p:xfrm>
        <a:graphic>
          <a:graphicData uri="http://schemas.openxmlformats.org/drawingml/2006/table">
            <a:tbl>
              <a:tblPr/>
              <a:tblGrid>
                <a:gridCol w="1920240"/>
                <a:gridCol w="1600200"/>
                <a:gridCol w="1600200"/>
                <a:gridCol w="1600200"/>
                <a:gridCol w="160020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Scratch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VGG16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* Values are representative — actual results depend on your dataset. Best model auto-saved as best_model.pth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Visualization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0972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Generated per model: </a:t>
            </a:r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{ModelName}_history.png  •  {ModelName}_confusion_matrix.png  •  all_models_history.png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69748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Predict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" y="1828800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801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Upload any fish image (JPG/PNG)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359152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Real-time species prediction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889504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" y="2862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Confidence score + progress bar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419856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Plotly bar chart for all class probabilities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950208"/>
            <a:ext cx="10972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39227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GPU-accelerated inference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115568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115568"/>
            <a:ext cx="269748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115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Comparison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10128" y="1828800"/>
            <a:ext cx="10972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1801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Styled dataframe with all model metrics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0128" y="2359152"/>
            <a:ext cx="10972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3493008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Green highlight = best 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2889504"/>
            <a:ext cx="10972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2862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Model comparison bar chart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10128" y="3419856"/>
            <a:ext cx="10972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Accuracy / Precision / Recall / F1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950208"/>
            <a:ext cx="109728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493008" y="39227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Auto-loaded from comparison_report.json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1115568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115568"/>
            <a:ext cx="2697480" cy="5943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11155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📈 History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90488" y="1828800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373368" y="18013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Combined training history chart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90488" y="2359152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373368" y="2331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Per-model accuracy curves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0488" y="2889504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373368" y="2862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Per-model loss curves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0488" y="3419856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33924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All images auto-loaded from results/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0488" y="3950208"/>
            <a:ext cx="109728" cy="10972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373368" y="39227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Side-by-side train vs val comparison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streamlit run app.py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6517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527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2527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Trained Models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1709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 models saved as .pth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best_model.pth auto-selected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12527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252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15568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15568"/>
            <a:ext cx="265176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2527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67328" y="12527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Streamlit App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10128" y="1709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3-page interactive web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Real-time fish classification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2527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252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1115568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15568"/>
            <a:ext cx="265176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25272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01968" y="12527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Python Notebook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44768" y="170992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Jupyter notebook with all steps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GPU-optimized for 4GB VRAM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63840" y="125272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7863840" y="12527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035808"/>
            <a:ext cx="4297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035808"/>
            <a:ext cx="4297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1729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" y="31729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Comparison Report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" y="363016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JSON + styled dataframe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All model metrics compared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317296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0" y="3172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54880" y="3035808"/>
            <a:ext cx="42976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35808"/>
            <a:ext cx="4297680" cy="6400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31729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EC489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21808" y="31729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GitHub Repository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64608" y="363016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Public repo with README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 workflow documentation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0" y="3172968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0" y="3172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Done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15568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TensorFlow to PyTorch for native CUDA 12.5 / Windows GPU compatibility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2880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 achieved the highest accuracy — transfer learning significantly outperforms CNN from scratch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420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254203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models evaluated with Accuracy, Precision, Recall, F1-Score &amp; Confusion Matrix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3255264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5526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25526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interactive Streamlit app with Predict, Model Comparison, and Training History pages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968496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684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396849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auto-saved as .pth — reloadable for inference without retraining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Multiclass Fish Image Classification</dc:title>
  <dc:subject>PptxGenJS Presentation</dc:subject>
  <dc:creator>PptxGenJS</dc:creator>
  <cp:lastModifiedBy>PptxGenJS</cp:lastModifiedBy>
  <cp:revision>1</cp:revision>
  <dcterms:created xsi:type="dcterms:W3CDTF">2026-04-05T15:50:32Z</dcterms:created>
  <dcterms:modified xsi:type="dcterms:W3CDTF">2026-04-05T15:50:32Z</dcterms:modified>
</cp:coreProperties>
</file>